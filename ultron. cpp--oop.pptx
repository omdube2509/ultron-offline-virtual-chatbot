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League Spartan" pitchFamily="2" charset="0"/>
      <p:regular r:id="rId20"/>
    </p:embeddedFont>
    <p:embeddedFont>
      <p:font typeface="Montserrat" pitchFamily="2" charset="0"/>
      <p:regular r:id="rId21"/>
    </p:embeddedFont>
    <p:embeddedFont>
      <p:font typeface="Montserrat Bold" pitchFamily="2" charset="0"/>
      <p:regular r:id="rId22"/>
    </p:embeddedFont>
    <p:embeddedFont>
      <p:font typeface="Roboto Mono" pitchFamily="49" charset="0"/>
      <p:regular r:id="rId23"/>
    </p:embeddedFont>
    <p:embeddedFont>
      <p:font typeface="Roboto Mono Bold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2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1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5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4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3.fntdata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96250" y="0"/>
            <a:ext cx="10191750" cy="10287000"/>
          </a:xfrm>
          <a:custGeom>
            <a:avLst/>
            <a:gdLst/>
            <a:ahLst/>
            <a:cxnLst/>
            <a:rect l="l" t="t" r="r" b="b"/>
            <a:pathLst>
              <a:path w="10191750" h="1028700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" b="-37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0" y="0"/>
            <a:ext cx="5715000" cy="10287000"/>
            <a:chOff x="0" y="0"/>
            <a:chExt cx="7620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620000" cy="13716000"/>
            </a:xfrm>
            <a:custGeom>
              <a:avLst/>
              <a:gdLst/>
              <a:ahLst/>
              <a:cxnLst/>
              <a:rect l="l" t="t" r="r" b="b"/>
              <a:pathLst>
                <a:path w="7620000" h="13716000">
                  <a:moveTo>
                    <a:pt x="0" y="0"/>
                  </a:moveTo>
                  <a:lnTo>
                    <a:pt x="7620000" y="0"/>
                  </a:lnTo>
                  <a:lnTo>
                    <a:pt x="762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80D18">
                    <a:alpha val="100000"/>
                  </a:srgbClr>
                </a:gs>
                <a:gs pos="100000">
                  <a:srgbClr val="080D18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62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14300" cy="10287000"/>
            <a:chOff x="0" y="0"/>
            <a:chExt cx="1524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3716000"/>
            </a:xfrm>
            <a:custGeom>
              <a:avLst/>
              <a:gdLst/>
              <a:ahLst/>
              <a:cxnLst/>
              <a:rect l="l" t="t" r="r" b="b"/>
              <a:pathLst>
                <a:path w="152400" h="13716000">
                  <a:moveTo>
                    <a:pt x="0" y="0"/>
                  </a:moveTo>
                  <a:lnTo>
                    <a:pt x="152400" y="0"/>
                  </a:lnTo>
                  <a:lnTo>
                    <a:pt x="152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4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2500" y="962025"/>
            <a:ext cx="6858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DIPLOMA 2ND YEAR  •  OOP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5350" y="1647825"/>
            <a:ext cx="8572500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29"/>
              </a:lnSpc>
            </a:pPr>
            <a:r>
              <a:rPr lang="en-US" sz="10950" b="1" spc="-438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ULTRON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3609975"/>
            <a:ext cx="6858000" cy="79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Offline Virtual Chatbot using C++ &amp; Object-Oriented Programming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4905375"/>
            <a:ext cx="60960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Diploma 2nd Year OOP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" y="7658100"/>
            <a:ext cx="85725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Om Amol Dube  •  Manas Chemate  •  Yash Wairkar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Amogh Shirvadkar  •  Jaydevsingh Bagal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0100" y="1981200"/>
            <a:ext cx="752475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ULTRON is an offline, rule-based chatbot developed in C++. It accepts text input, matches predefined commands or questions with conditional logic, and returns predefined responses. Authentication, credits, help, profile and session behavior demonstrate multiple OOP concepts.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100" y="5838825"/>
            <a:ext cx="7524750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1">
                <a:solidFill>
                  <a:srgbClr val="F5B85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ULTRON works completely offline.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54785" y="2381250"/>
            <a:ext cx="8242590" cy="3048000"/>
            <a:chOff x="0" y="0"/>
            <a:chExt cx="10990120" cy="406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4620" y="0"/>
              <a:ext cx="2413000" cy="1270000"/>
              <a:chOff x="0" y="0"/>
              <a:chExt cx="2413000" cy="127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USER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862120" y="0"/>
              <a:ext cx="2413000" cy="1270000"/>
              <a:chOff x="0" y="0"/>
              <a:chExt cx="2413000" cy="127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LOGIN</a:t>
                </a:r>
              </a:p>
            </p:txBody>
          </p:sp>
        </p:grpSp>
        <p:sp>
          <p:nvSpPr>
            <p:cNvPr id="17" name="AutoShape 17"/>
            <p:cNvSpPr/>
            <p:nvPr/>
          </p:nvSpPr>
          <p:spPr>
            <a:xfrm>
              <a:off x="2417620" y="635000"/>
              <a:ext cx="444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719620" y="0"/>
              <a:ext cx="2413000" cy="1270000"/>
              <a:chOff x="0" y="0"/>
              <a:chExt cx="2413000" cy="127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ULTRON</a:t>
                </a:r>
              </a:p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SYSTEM</a:t>
                </a:r>
              </a:p>
            </p:txBody>
          </p:sp>
        </p:grpSp>
        <p:sp>
          <p:nvSpPr>
            <p:cNvPr id="21" name="AutoShape 21"/>
            <p:cNvSpPr/>
            <p:nvPr/>
          </p:nvSpPr>
          <p:spPr>
            <a:xfrm>
              <a:off x="5275120" y="635000"/>
              <a:ext cx="444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577120" y="0"/>
              <a:ext cx="2413000" cy="1270000"/>
              <a:chOff x="0" y="0"/>
              <a:chExt cx="2413000" cy="127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INPUT</a:t>
                </a:r>
              </a:p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PROCESSING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8132620" y="635000"/>
              <a:ext cx="444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620" y="2794000"/>
              <a:ext cx="2413000" cy="1270000"/>
              <a:chOff x="0" y="0"/>
              <a:chExt cx="2413000" cy="127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QUERY</a:t>
                </a:r>
              </a:p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MATCHING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862120" y="2794000"/>
              <a:ext cx="2413000" cy="1270000"/>
              <a:chOff x="0" y="0"/>
              <a:chExt cx="2413000" cy="1270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RESPONSE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2417620" y="3429000"/>
              <a:ext cx="444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719620" y="2794000"/>
              <a:ext cx="2413000" cy="1270000"/>
              <a:chOff x="0" y="0"/>
              <a:chExt cx="2413000" cy="127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413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2413000" h="1270000">
                    <a:moveTo>
                      <a:pt x="80211" y="0"/>
                    </a:moveTo>
                    <a:lnTo>
                      <a:pt x="2332789" y="0"/>
                    </a:lnTo>
                    <a:cubicBezTo>
                      <a:pt x="2354063" y="0"/>
                      <a:pt x="2374465" y="8451"/>
                      <a:pt x="2389507" y="23493"/>
                    </a:cubicBezTo>
                    <a:cubicBezTo>
                      <a:pt x="2404549" y="38536"/>
                      <a:pt x="2413000" y="58937"/>
                      <a:pt x="2413000" y="80211"/>
                    </a:cubicBezTo>
                    <a:lnTo>
                      <a:pt x="2413000" y="1189789"/>
                    </a:lnTo>
                    <a:cubicBezTo>
                      <a:pt x="2413000" y="1211063"/>
                      <a:pt x="2404549" y="1231464"/>
                      <a:pt x="2389507" y="1246507"/>
                    </a:cubicBezTo>
                    <a:cubicBezTo>
                      <a:pt x="2374465" y="1261549"/>
                      <a:pt x="2354063" y="1270000"/>
                      <a:pt x="2332789" y="1270000"/>
                    </a:cubicBezTo>
                    <a:lnTo>
                      <a:pt x="80211" y="1270000"/>
                    </a:lnTo>
                    <a:cubicBezTo>
                      <a:pt x="58937" y="1270000"/>
                      <a:pt x="38536" y="1261549"/>
                      <a:pt x="23493" y="1246507"/>
                    </a:cubicBezTo>
                    <a:cubicBezTo>
                      <a:pt x="8451" y="1231464"/>
                      <a:pt x="0" y="1211063"/>
                      <a:pt x="0" y="1189789"/>
                    </a:cubicBezTo>
                    <a:lnTo>
                      <a:pt x="0" y="80211"/>
                    </a:lnTo>
                    <a:cubicBezTo>
                      <a:pt x="0" y="58937"/>
                      <a:pt x="8451" y="38536"/>
                      <a:pt x="23493" y="23493"/>
                    </a:cubicBezTo>
                    <a:cubicBezTo>
                      <a:pt x="38536" y="8451"/>
                      <a:pt x="58937" y="0"/>
                      <a:pt x="8021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0"/>
                <a:ext cx="2413000" cy="1270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SESSION</a:t>
                </a:r>
              </a:p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MANAGEMENT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5275120" y="3429000"/>
              <a:ext cx="444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H="1">
              <a:off x="4620" y="1270000"/>
              <a:ext cx="8636000" cy="2159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 &amp;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0100" y="205740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100" y="2609850"/>
            <a:ext cx="5715000" cy="194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34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Beginners struggle to combine multiple OOP concepts in one practical program.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524750" y="1952625"/>
            <a:ext cx="4286250" cy="1381125"/>
            <a:chOff x="0" y="0"/>
            <a:chExt cx="5715000" cy="184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287250" y="1952625"/>
            <a:ext cx="4286250" cy="1381125"/>
            <a:chOff x="0" y="0"/>
            <a:chExt cx="5715000" cy="1841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24750" y="3762375"/>
            <a:ext cx="4286250" cy="1381125"/>
            <a:chOff x="0" y="0"/>
            <a:chExt cx="5715000" cy="1841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287250" y="3762375"/>
            <a:ext cx="4286250" cy="1381125"/>
            <a:chOff x="0" y="0"/>
            <a:chExt cx="5715000" cy="1841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4750" y="5572125"/>
            <a:ext cx="4286250" cy="1381125"/>
            <a:chOff x="0" y="0"/>
            <a:chExt cx="5715000" cy="1841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87250" y="5572125"/>
            <a:ext cx="4286250" cy="1381125"/>
            <a:chOff x="0" y="0"/>
            <a:chExt cx="5715000" cy="1841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4750" y="7381875"/>
            <a:ext cx="4286250" cy="1381125"/>
            <a:chOff x="0" y="0"/>
            <a:chExt cx="5715000" cy="1841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87250" y="7381875"/>
            <a:ext cx="4286250" cy="1381125"/>
            <a:chOff x="0" y="0"/>
            <a:chExt cx="5715000" cy="1841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715000" cy="1841500"/>
            </a:xfrm>
            <a:custGeom>
              <a:avLst/>
              <a:gdLst/>
              <a:ahLst/>
              <a:cxnLst/>
              <a:rect l="l" t="t" r="r" b="b"/>
              <a:pathLst>
                <a:path w="5715000" h="1841500">
                  <a:moveTo>
                    <a:pt x="0" y="0"/>
                  </a:moveTo>
                  <a:lnTo>
                    <a:pt x="5715000" y="0"/>
                  </a:lnTo>
                  <a:lnTo>
                    <a:pt x="5715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715000" cy="187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762875" y="2219325"/>
            <a:ext cx="3905250" cy="704850"/>
            <a:chOff x="0" y="0"/>
            <a:chExt cx="5207000" cy="939800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Offline chatbot in C++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25375" y="2219325"/>
            <a:ext cx="3905250" cy="704850"/>
            <a:chOff x="0" y="0"/>
            <a:chExt cx="5207000" cy="939800"/>
          </a:xfrm>
        </p:grpSpPr>
        <p:sp>
          <p:nvSpPr>
            <p:cNvPr id="38" name="TextBox 38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Practical OOP application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62875" y="4029075"/>
            <a:ext cx="3905250" cy="704850"/>
            <a:chOff x="0" y="0"/>
            <a:chExt cx="5207000" cy="939800"/>
          </a:xfrm>
        </p:grpSpPr>
        <p:sp>
          <p:nvSpPr>
            <p:cNvPr id="41" name="TextBox 41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User authentication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525375" y="4029075"/>
            <a:ext cx="3905250" cy="704850"/>
            <a:chOff x="0" y="0"/>
            <a:chExt cx="5207000" cy="939800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Command-based interaction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762875" y="5838825"/>
            <a:ext cx="3905250" cy="704850"/>
            <a:chOff x="0" y="0"/>
            <a:chExt cx="5207000" cy="939800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Predefined responses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525375" y="5838825"/>
            <a:ext cx="3905250" cy="704850"/>
            <a:chOff x="0" y="0"/>
            <a:chExt cx="5207000" cy="939800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Credit / session system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762875" y="7648575"/>
            <a:ext cx="3905250" cy="704850"/>
            <a:chOff x="0" y="0"/>
            <a:chExt cx="5207000" cy="939800"/>
          </a:xfrm>
        </p:grpSpPr>
        <p:sp>
          <p:nvSpPr>
            <p:cNvPr id="53" name="TextBox 53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Inheritance + polymorphism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525375" y="7648575"/>
            <a:ext cx="3905250" cy="704850"/>
            <a:chOff x="0" y="0"/>
            <a:chExt cx="5207000" cy="939800"/>
          </a:xfrm>
        </p:grpSpPr>
        <p:sp>
          <p:nvSpPr>
            <p:cNvPr id="56" name="TextBox 56"/>
            <p:cNvSpPr txBox="1"/>
            <p:nvPr/>
          </p:nvSpPr>
          <p:spPr>
            <a:xfrm>
              <a:off x="0" y="-38100"/>
              <a:ext cx="88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6B5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08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520700"/>
              <a:ext cx="5207000" cy="41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Learning &amp; viva ready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Technology Stack &amp;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" y="2857500"/>
            <a:ext cx="14287500" cy="1428750"/>
            <a:chOff x="0" y="0"/>
            <a:chExt cx="19050000" cy="190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810000" cy="1905000"/>
              <a:chOff x="0" y="0"/>
              <a:chExt cx="3810000" cy="190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81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905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854200"/>
                    </a:lnTo>
                    <a:cubicBezTo>
                      <a:pt x="3810000" y="1882256"/>
                      <a:pt x="3787256" y="1905000"/>
                      <a:pt x="3759200" y="1905000"/>
                    </a:cubicBezTo>
                    <a:lnTo>
                      <a:pt x="50800" y="1905000"/>
                    </a:lnTo>
                    <a:cubicBezTo>
                      <a:pt x="22744" y="1905000"/>
                      <a:pt x="0" y="1882256"/>
                      <a:pt x="0" y="1854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3810000" cy="1895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C++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3810000" y="952500"/>
              <a:ext cx="1270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080000" y="0"/>
              <a:ext cx="3810000" cy="1905000"/>
              <a:chOff x="0" y="0"/>
              <a:chExt cx="3810000" cy="1905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81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905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854200"/>
                    </a:lnTo>
                    <a:cubicBezTo>
                      <a:pt x="3810000" y="1882256"/>
                      <a:pt x="3787256" y="1905000"/>
                      <a:pt x="3759200" y="1905000"/>
                    </a:cubicBezTo>
                    <a:lnTo>
                      <a:pt x="50800" y="1905000"/>
                    </a:lnTo>
                    <a:cubicBezTo>
                      <a:pt x="22744" y="1905000"/>
                      <a:pt x="0" y="1882256"/>
                      <a:pt x="0" y="1854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9525"/>
                <a:ext cx="3810000" cy="1895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OOP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8890000" y="952500"/>
              <a:ext cx="1270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160000" y="0"/>
              <a:ext cx="3810000" cy="1905000"/>
              <a:chOff x="0" y="0"/>
              <a:chExt cx="3810000" cy="1905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81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905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854200"/>
                    </a:lnTo>
                    <a:cubicBezTo>
                      <a:pt x="3810000" y="1882256"/>
                      <a:pt x="3787256" y="1905000"/>
                      <a:pt x="3759200" y="1905000"/>
                    </a:cubicBezTo>
                    <a:lnTo>
                      <a:pt x="50800" y="1905000"/>
                    </a:lnTo>
                    <a:cubicBezTo>
                      <a:pt x="22744" y="1905000"/>
                      <a:pt x="0" y="1882256"/>
                      <a:pt x="0" y="1854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3810000" cy="1895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CONSOLE</a:t>
                </a:r>
              </a:p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APPLICATION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13970000" y="952500"/>
              <a:ext cx="1270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5240000" y="0"/>
              <a:ext cx="3810000" cy="1905000"/>
              <a:chOff x="0" y="0"/>
              <a:chExt cx="3810000" cy="1905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81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905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854200"/>
                    </a:lnTo>
                    <a:cubicBezTo>
                      <a:pt x="3810000" y="1882256"/>
                      <a:pt x="3787256" y="1905000"/>
                      <a:pt x="3759200" y="1905000"/>
                    </a:cubicBezTo>
                    <a:lnTo>
                      <a:pt x="50800" y="1905000"/>
                    </a:lnTo>
                    <a:cubicBezTo>
                      <a:pt x="22744" y="1905000"/>
                      <a:pt x="0" y="1882256"/>
                      <a:pt x="0" y="1854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9525"/>
                <a:ext cx="3810000" cy="1895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OFFLINE</a:t>
                </a:r>
              </a:p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CHATBOT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524000" y="5676900"/>
            <a:ext cx="3810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6124575"/>
            <a:ext cx="6953250" cy="161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1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Libraries  iostream, string</a:t>
            </a:r>
          </a:p>
          <a:p>
            <a:pPr algn="l">
              <a:lnSpc>
                <a:spcPts val="3255"/>
              </a:lnSpc>
            </a:pPr>
            <a:r>
              <a:rPr lang="en-US" sz="21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Input  Keyboard / Console</a:t>
            </a:r>
          </a:p>
          <a:p>
            <a:pPr algn="l">
              <a:lnSpc>
                <a:spcPts val="3255"/>
              </a:lnSpc>
            </a:pPr>
            <a:r>
              <a:rPr lang="en-US" sz="21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Output  Console</a:t>
            </a:r>
          </a:p>
          <a:p>
            <a:pPr algn="l">
              <a:lnSpc>
                <a:spcPts val="3255"/>
              </a:lnSpc>
            </a:pPr>
            <a:r>
              <a:rPr lang="en-US" sz="21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Platform  Any C++ compatible compiler or IDE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68000" y="5981700"/>
            <a:ext cx="5334000" cy="1907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4050" b="1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INTERNET</a:t>
            </a:r>
          </a:p>
          <a:p>
            <a:pPr algn="ctr">
              <a:lnSpc>
                <a:spcPts val="5062"/>
              </a:lnSpc>
            </a:pPr>
            <a:r>
              <a:rPr lang="en-US" sz="4050" b="1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DATABASE</a:t>
            </a:r>
          </a:p>
          <a:p>
            <a:pPr algn="ctr">
              <a:lnSpc>
                <a:spcPts val="5062"/>
              </a:lnSpc>
            </a:pPr>
            <a:r>
              <a:rPr lang="en-US" sz="4050" b="1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ULTRON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238375"/>
            <a:ext cx="16668750" cy="3429000"/>
            <a:chOff x="0" y="0"/>
            <a:chExt cx="22225000" cy="4572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683000" cy="1397000"/>
              <a:chOff x="0" y="0"/>
              <a:chExt cx="3683000" cy="139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USER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635500" y="0"/>
              <a:ext cx="3683000" cy="1397000"/>
              <a:chOff x="0" y="0"/>
              <a:chExt cx="3683000" cy="1397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LOGIN / AUTH</a:t>
                </a:r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3683000" y="698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271000" y="0"/>
              <a:ext cx="3683000" cy="1397000"/>
              <a:chOff x="0" y="0"/>
              <a:chExt cx="3683000" cy="1397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TEAM MEMBER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>
              <a:off x="8318500" y="698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3906500" y="0"/>
              <a:ext cx="3683000" cy="1397000"/>
              <a:chOff x="0" y="0"/>
              <a:chExt cx="3683000" cy="1397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ULTRON OBJECT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2954000" y="698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8542000" y="0"/>
              <a:ext cx="3683000" cy="1397000"/>
              <a:chOff x="0" y="0"/>
              <a:chExt cx="3683000" cy="1397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COMMAND INPUT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7589500" y="698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0" y="3175000"/>
              <a:ext cx="3683000" cy="1397000"/>
              <a:chOff x="0" y="0"/>
              <a:chExt cx="3683000" cy="139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CLASSIFICATION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635500" y="3175000"/>
              <a:ext cx="3683000" cy="1397000"/>
              <a:chOff x="0" y="0"/>
              <a:chExt cx="3683000" cy="1397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QUERY PROCESS</a:t>
                </a:r>
              </a:p>
            </p:txBody>
          </p:sp>
        </p:grpSp>
        <p:sp>
          <p:nvSpPr>
            <p:cNvPr id="34" name="AutoShape 34"/>
            <p:cNvSpPr/>
            <p:nvPr/>
          </p:nvSpPr>
          <p:spPr>
            <a:xfrm>
              <a:off x="3683000" y="3873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271000" y="3175000"/>
              <a:ext cx="3683000" cy="1397000"/>
              <a:chOff x="0" y="0"/>
              <a:chExt cx="3683000" cy="1397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RESPONSE</a:t>
                </a:r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8318500" y="3873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3906500" y="3175000"/>
              <a:ext cx="3683000" cy="1397000"/>
              <a:chOff x="0" y="0"/>
              <a:chExt cx="3683000" cy="1397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SESSION / CREDIT</a:t>
                </a:r>
              </a:p>
            </p:txBody>
          </p:sp>
        </p:grpSp>
        <p:sp>
          <p:nvSpPr>
            <p:cNvPr id="42" name="AutoShape 42"/>
            <p:cNvSpPr/>
            <p:nvPr/>
          </p:nvSpPr>
          <p:spPr>
            <a:xfrm>
              <a:off x="12954000" y="3873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8542000" y="3175000"/>
              <a:ext cx="3683000" cy="1397000"/>
              <a:chOff x="0" y="0"/>
              <a:chExt cx="3683000" cy="1397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683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397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344448"/>
                    </a:lnTo>
                    <a:cubicBezTo>
                      <a:pt x="3683000" y="1358386"/>
                      <a:pt x="3677463" y="1371753"/>
                      <a:pt x="3667608" y="1381608"/>
                    </a:cubicBezTo>
                    <a:cubicBezTo>
                      <a:pt x="3657753" y="1391463"/>
                      <a:pt x="3644386" y="1397000"/>
                      <a:pt x="3630448" y="1397000"/>
                    </a:cubicBezTo>
                    <a:lnTo>
                      <a:pt x="52552" y="1397000"/>
                    </a:lnTo>
                    <a:cubicBezTo>
                      <a:pt x="38614" y="1397000"/>
                      <a:pt x="25247" y="1391463"/>
                      <a:pt x="15392" y="1381608"/>
                    </a:cubicBezTo>
                    <a:cubicBezTo>
                      <a:pt x="5537" y="1371753"/>
                      <a:pt x="0" y="1358386"/>
                      <a:pt x="0" y="1344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0"/>
                <a:ext cx="3683000" cy="139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725"/>
                  </a:lnSpc>
                </a:pPr>
                <a:r>
                  <a:rPr lang="en-US" sz="15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OUTPUT</a:t>
                </a:r>
              </a:p>
            </p:txBody>
          </p:sp>
        </p:grpSp>
        <p:sp>
          <p:nvSpPr>
            <p:cNvPr id="46" name="AutoShape 46"/>
            <p:cNvSpPr/>
            <p:nvPr/>
          </p:nvSpPr>
          <p:spPr>
            <a:xfrm>
              <a:off x="17589500" y="3873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20447000" y="1397000"/>
              <a:ext cx="0" cy="1778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1333500" y="7677150"/>
            <a:ext cx="15621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F5B8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SUPPORTING COMPONENTS  /  Help System  •  Profile System  •  Session Counter  •  Credit System  •  Shutdown System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57500" y="8534400"/>
            <a:ext cx="12573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 are implemented via classes and functions.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UML / CLASS RELATIONSHIPS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9625" y="2143125"/>
            <a:ext cx="6191250" cy="2857500"/>
            <a:chOff x="0" y="0"/>
            <a:chExt cx="8255000" cy="3810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255000" cy="3810000"/>
              <a:chOff x="0" y="0"/>
              <a:chExt cx="8255000" cy="381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255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3810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51D2B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255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4500" y="415925"/>
              <a:ext cx="7112000" cy="1485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USER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— username, password, name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displayRole()</a:t>
              </a:r>
            </a:p>
            <a:p>
              <a:pPr algn="l">
                <a:lnSpc>
                  <a:spcPts val="2283"/>
                </a:lnSpc>
              </a:pPr>
              <a:r>
                <a:rPr lang="en-US" sz="15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getUsername() / getPassword() / getName()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3905250" y="5000625"/>
            <a:ext cx="0" cy="857250"/>
          </a:xfrm>
          <a:prstGeom prst="line">
            <a:avLst/>
          </a:prstGeom>
          <a:ln w="28575" cap="rnd">
            <a:solidFill>
              <a:srgbClr val="FF6B5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809625" y="5857875"/>
            <a:ext cx="6191250" cy="2571750"/>
            <a:chOff x="0" y="0"/>
            <a:chExt cx="8255000" cy="3429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8255000" cy="3429000"/>
              <a:chOff x="0" y="0"/>
              <a:chExt cx="8255000" cy="3429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255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3429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51D2B"/>
              </a:solidFill>
              <a:ln w="19050" cap="sq">
                <a:solidFill>
                  <a:srgbClr val="F5B85C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8255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44500" y="396875"/>
              <a:ext cx="7112000" cy="179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18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TEAMMEMBER  :  USER</a:t>
              </a:r>
            </a:p>
            <a:p>
              <a:pPr algn="l">
                <a:lnSpc>
                  <a:spcPts val="2718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— memberID</a:t>
              </a:r>
            </a:p>
            <a:p>
              <a:pPr algn="l">
                <a:lnSpc>
                  <a:spcPts val="2718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displayRole()</a:t>
              </a:r>
            </a:p>
            <a:p>
              <a:pPr algn="l">
                <a:lnSpc>
                  <a:spcPts val="2718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displayProfile()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91625" y="2143125"/>
            <a:ext cx="7810500" cy="6286500"/>
            <a:chOff x="0" y="0"/>
            <a:chExt cx="10414000" cy="8382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414000" cy="8382000"/>
              <a:chOff x="0" y="0"/>
              <a:chExt cx="10414000" cy="8382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414000" cy="8382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8382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382000"/>
                    </a:lnTo>
                    <a:lnTo>
                      <a:pt x="0" y="8382000"/>
                    </a:lnTo>
                    <a:close/>
                  </a:path>
                </a:pathLst>
              </a:custGeom>
              <a:solidFill>
                <a:srgbClr val="151D2B"/>
              </a:solidFill>
              <a:ln w="19050" cap="sq">
                <a:solidFill>
                  <a:srgbClr val="F23846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0414000" cy="842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98500" y="895350"/>
              <a:ext cx="8890000" cy="2781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ULTRON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— prompt, currentUser, credits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— totalSessions  {static}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displayWelcome() / processQuery()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showHelp() / showCredits() / useCredit()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 displayUser() / showTotalSessions() / chat()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Object-Oriented Programming Concepts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2500" y="2190750"/>
            <a:ext cx="4953000" cy="2762250"/>
            <a:chOff x="0" y="0"/>
            <a:chExt cx="6604000" cy="368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F23846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0" y="2190750"/>
            <a:ext cx="4953000" cy="2762250"/>
            <a:chOff x="0" y="0"/>
            <a:chExt cx="6604000" cy="368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82500" y="2190750"/>
            <a:ext cx="4953000" cy="2762250"/>
            <a:chOff x="0" y="0"/>
            <a:chExt cx="6604000" cy="368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5619750"/>
            <a:ext cx="4953000" cy="2762250"/>
            <a:chOff x="0" y="0"/>
            <a:chExt cx="6604000" cy="3683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0" y="5619750"/>
            <a:ext cx="4953000" cy="2762250"/>
            <a:chOff x="0" y="0"/>
            <a:chExt cx="6604000" cy="368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82500" y="5619750"/>
            <a:ext cx="4953000" cy="2762250"/>
            <a:chOff x="0" y="0"/>
            <a:chExt cx="6604000" cy="368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0" cy="3683000"/>
            </a:xfrm>
            <a:custGeom>
              <a:avLst/>
              <a:gdLst/>
              <a:ahLst/>
              <a:cxnLst/>
              <a:rect l="l" t="t" r="r" b="b"/>
              <a:pathLst>
                <a:path w="6604000" h="3683000">
                  <a:moveTo>
                    <a:pt x="0" y="0"/>
                  </a:moveTo>
                  <a:lnTo>
                    <a:pt x="6604000" y="0"/>
                  </a:lnTo>
                  <a:lnTo>
                    <a:pt x="6604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151D2B"/>
            </a:solidFill>
            <a:ln w="9525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0" cy="372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14450" y="2524125"/>
            <a:ext cx="4191000" cy="1574006"/>
            <a:chOff x="0" y="0"/>
            <a:chExt cx="5588000" cy="2098675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6F8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CORE OOP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695325"/>
              <a:ext cx="5588000" cy="1403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Class • blueprint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Object • instance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Encapsulation • protect state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29450" y="2524125"/>
            <a:ext cx="4191000" cy="1212056"/>
            <a:chOff x="0" y="0"/>
            <a:chExt cx="5588000" cy="1616075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RELATIONSHIPS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95325"/>
              <a:ext cx="5588000" cy="920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Inheritance • reuse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Polymorphism • runtime behavior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44450" y="2524125"/>
            <a:ext cx="4191000" cy="1574006"/>
            <a:chOff x="0" y="0"/>
            <a:chExt cx="5588000" cy="2098675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FUNCTION FEATURES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695325"/>
              <a:ext cx="5588000" cy="1403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Overloading • signatures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Overriding • redefine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Virtual function • dispatch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14450" y="5953125"/>
            <a:ext cx="4191000" cy="1212056"/>
            <a:chOff x="0" y="0"/>
            <a:chExt cx="5588000" cy="1616075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OBJECT LIFECYCLE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695325"/>
              <a:ext cx="5588000" cy="920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Constructor • initialize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Destructor • cleanup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029450" y="5953125"/>
            <a:ext cx="4191000" cy="1212056"/>
            <a:chOff x="0" y="0"/>
            <a:chExt cx="5588000" cy="1616075"/>
          </a:xfrm>
        </p:grpSpPr>
        <p:sp>
          <p:nvSpPr>
            <p:cNvPr id="39" name="TextBox 39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SPECIAL FEATURES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695325"/>
              <a:ext cx="5588000" cy="920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Static member • shared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Friend function • controlled access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44450" y="5953125"/>
            <a:ext cx="4191000" cy="1574006"/>
            <a:chOff x="0" y="0"/>
            <a:chExt cx="5588000" cy="2098675"/>
          </a:xfrm>
        </p:grpSpPr>
        <p:sp>
          <p:nvSpPr>
            <p:cNvPr id="42" name="TextBox 42"/>
            <p:cNvSpPr txBox="1"/>
            <p:nvPr/>
          </p:nvSpPr>
          <p:spPr>
            <a:xfrm>
              <a:off x="0" y="-38100"/>
              <a:ext cx="5588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ALSO USED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695325"/>
              <a:ext cx="5588000" cy="1403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Arrays of Objects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Objects as Arguments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6F8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Access Specifiers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Encapsulation &amp; Data Hiding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4500" y="3333750"/>
            <a:ext cx="14859000" cy="1714500"/>
            <a:chOff x="0" y="0"/>
            <a:chExt cx="19812000" cy="228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334000" cy="2286000"/>
              <a:chOff x="0" y="0"/>
              <a:chExt cx="5334000" cy="228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334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286000">
                    <a:moveTo>
                      <a:pt x="36286" y="0"/>
                    </a:moveTo>
                    <a:lnTo>
                      <a:pt x="5297714" y="0"/>
                    </a:lnTo>
                    <a:cubicBezTo>
                      <a:pt x="5317754" y="0"/>
                      <a:pt x="5334000" y="16246"/>
                      <a:pt x="5334000" y="36286"/>
                    </a:cubicBezTo>
                    <a:lnTo>
                      <a:pt x="5334000" y="2249714"/>
                    </a:lnTo>
                    <a:cubicBezTo>
                      <a:pt x="5334000" y="2269754"/>
                      <a:pt x="5317754" y="2286000"/>
                      <a:pt x="5297714" y="2286000"/>
                    </a:cubicBezTo>
                    <a:lnTo>
                      <a:pt x="36286" y="2286000"/>
                    </a:lnTo>
                    <a:cubicBezTo>
                      <a:pt x="16246" y="2286000"/>
                      <a:pt x="0" y="2269754"/>
                      <a:pt x="0" y="2249714"/>
                    </a:cubicBezTo>
                    <a:lnTo>
                      <a:pt x="0" y="36286"/>
                    </a:lnTo>
                    <a:cubicBezTo>
                      <a:pt x="0" y="16246"/>
                      <a:pt x="16246" y="0"/>
                      <a:pt x="36286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5334000" cy="2276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PRIVATE DATA</a:t>
                </a:r>
              </a:p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prompt • currentUser • credits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7239000" y="0"/>
              <a:ext cx="5334000" cy="2286000"/>
              <a:chOff x="0" y="0"/>
              <a:chExt cx="5334000" cy="228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34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286000">
                    <a:moveTo>
                      <a:pt x="36286" y="0"/>
                    </a:moveTo>
                    <a:lnTo>
                      <a:pt x="5297714" y="0"/>
                    </a:lnTo>
                    <a:cubicBezTo>
                      <a:pt x="5317754" y="0"/>
                      <a:pt x="5334000" y="16246"/>
                      <a:pt x="5334000" y="36286"/>
                    </a:cubicBezTo>
                    <a:lnTo>
                      <a:pt x="5334000" y="2249714"/>
                    </a:lnTo>
                    <a:cubicBezTo>
                      <a:pt x="5334000" y="2269754"/>
                      <a:pt x="5317754" y="2286000"/>
                      <a:pt x="5297714" y="2286000"/>
                    </a:cubicBezTo>
                    <a:lnTo>
                      <a:pt x="36286" y="2286000"/>
                    </a:lnTo>
                    <a:cubicBezTo>
                      <a:pt x="16246" y="2286000"/>
                      <a:pt x="0" y="2269754"/>
                      <a:pt x="0" y="2249714"/>
                    </a:cubicBezTo>
                    <a:lnTo>
                      <a:pt x="0" y="36286"/>
                    </a:lnTo>
                    <a:cubicBezTo>
                      <a:pt x="0" y="16246"/>
                      <a:pt x="16246" y="0"/>
                      <a:pt x="36286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9525"/>
                <a:ext cx="5334000" cy="2276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PUBLIC FUNCTIONS</a:t>
                </a:r>
              </a:p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showCredits() • useCredit()</a:t>
                </a:r>
              </a:p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getCredits()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4478000" y="0"/>
              <a:ext cx="5334000" cy="2286000"/>
              <a:chOff x="0" y="0"/>
              <a:chExt cx="5334000" cy="228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334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286000">
                    <a:moveTo>
                      <a:pt x="36286" y="0"/>
                    </a:moveTo>
                    <a:lnTo>
                      <a:pt x="5297714" y="0"/>
                    </a:lnTo>
                    <a:cubicBezTo>
                      <a:pt x="5317754" y="0"/>
                      <a:pt x="5334000" y="16246"/>
                      <a:pt x="5334000" y="36286"/>
                    </a:cubicBezTo>
                    <a:lnTo>
                      <a:pt x="5334000" y="2249714"/>
                    </a:lnTo>
                    <a:cubicBezTo>
                      <a:pt x="5334000" y="2269754"/>
                      <a:pt x="5317754" y="2286000"/>
                      <a:pt x="5297714" y="2286000"/>
                    </a:cubicBezTo>
                    <a:lnTo>
                      <a:pt x="36286" y="2286000"/>
                    </a:lnTo>
                    <a:cubicBezTo>
                      <a:pt x="16246" y="2286000"/>
                      <a:pt x="0" y="2269754"/>
                      <a:pt x="0" y="2249714"/>
                    </a:cubicBezTo>
                    <a:lnTo>
                      <a:pt x="0" y="36286"/>
                    </a:lnTo>
                    <a:cubicBezTo>
                      <a:pt x="0" y="16246"/>
                      <a:pt x="16246" y="0"/>
                      <a:pt x="36286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9525"/>
                <a:ext cx="5334000" cy="2276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5"/>
                  </a:lnSpc>
                </a:pPr>
                <a:r>
                  <a:rPr lang="en-US" sz="21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CONTROLLED ACCESS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5334000" y="1143000"/>
              <a:ext cx="1905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12573000" y="1143000"/>
              <a:ext cx="1905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2190750" y="6610350"/>
            <a:ext cx="2857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private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15250" y="6610350"/>
            <a:ext cx="2857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F5B85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protected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39750" y="6610350"/>
            <a:ext cx="2857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1">
                <a:solidFill>
                  <a:srgbClr val="71D6A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public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90750" y="7210425"/>
            <a:ext cx="285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class only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15250" y="7210425"/>
            <a:ext cx="285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class + derived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39750" y="7210425"/>
            <a:ext cx="285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accessible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Inheritance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19250" y="2857500"/>
            <a:ext cx="4381500" cy="5048250"/>
            <a:chOff x="0" y="0"/>
            <a:chExt cx="5842000" cy="673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842000" cy="2286000"/>
              <a:chOff x="0" y="0"/>
              <a:chExt cx="5842000" cy="228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42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842000" h="2286000">
                    <a:moveTo>
                      <a:pt x="33130" y="0"/>
                    </a:moveTo>
                    <a:lnTo>
                      <a:pt x="5808869" y="0"/>
                    </a:lnTo>
                    <a:cubicBezTo>
                      <a:pt x="5817656" y="0"/>
                      <a:pt x="5826083" y="3491"/>
                      <a:pt x="5832296" y="9704"/>
                    </a:cubicBezTo>
                    <a:cubicBezTo>
                      <a:pt x="5838510" y="15917"/>
                      <a:pt x="5842000" y="24344"/>
                      <a:pt x="5842000" y="33130"/>
                    </a:cubicBezTo>
                    <a:lnTo>
                      <a:pt x="5842000" y="2252870"/>
                    </a:lnTo>
                    <a:cubicBezTo>
                      <a:pt x="5842000" y="2261656"/>
                      <a:pt x="5838510" y="2270083"/>
                      <a:pt x="5832296" y="2276296"/>
                    </a:cubicBezTo>
                    <a:cubicBezTo>
                      <a:pt x="5826083" y="2282510"/>
                      <a:pt x="5817656" y="2286000"/>
                      <a:pt x="5808869" y="2286000"/>
                    </a:cubicBezTo>
                    <a:lnTo>
                      <a:pt x="33130" y="2286000"/>
                    </a:lnTo>
                    <a:cubicBezTo>
                      <a:pt x="24344" y="2286000"/>
                      <a:pt x="15917" y="2282510"/>
                      <a:pt x="9704" y="2276296"/>
                    </a:cubicBezTo>
                    <a:cubicBezTo>
                      <a:pt x="3491" y="2270083"/>
                      <a:pt x="0" y="2261656"/>
                      <a:pt x="0" y="2252870"/>
                    </a:cubicBezTo>
                    <a:lnTo>
                      <a:pt x="0" y="33130"/>
                    </a:lnTo>
                    <a:cubicBezTo>
                      <a:pt x="0" y="24344"/>
                      <a:pt x="3491" y="15917"/>
                      <a:pt x="9704" y="9704"/>
                    </a:cubicBezTo>
                    <a:cubicBezTo>
                      <a:pt x="15917" y="3491"/>
                      <a:pt x="24344" y="0"/>
                      <a:pt x="33130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5842000" cy="2276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BASE CLASS</a:t>
                </a:r>
              </a:p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User</a:t>
                </a:r>
              </a:p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common information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4445000"/>
              <a:ext cx="5842000" cy="2286000"/>
              <a:chOff x="0" y="0"/>
              <a:chExt cx="5842000" cy="2286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42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5842000" h="2286000">
                    <a:moveTo>
                      <a:pt x="33130" y="0"/>
                    </a:moveTo>
                    <a:lnTo>
                      <a:pt x="5808869" y="0"/>
                    </a:lnTo>
                    <a:cubicBezTo>
                      <a:pt x="5817656" y="0"/>
                      <a:pt x="5826083" y="3491"/>
                      <a:pt x="5832296" y="9704"/>
                    </a:cubicBezTo>
                    <a:cubicBezTo>
                      <a:pt x="5838510" y="15917"/>
                      <a:pt x="5842000" y="24344"/>
                      <a:pt x="5842000" y="33130"/>
                    </a:cubicBezTo>
                    <a:lnTo>
                      <a:pt x="5842000" y="2252870"/>
                    </a:lnTo>
                    <a:cubicBezTo>
                      <a:pt x="5842000" y="2261656"/>
                      <a:pt x="5838510" y="2270083"/>
                      <a:pt x="5832296" y="2276296"/>
                    </a:cubicBezTo>
                    <a:cubicBezTo>
                      <a:pt x="5826083" y="2282510"/>
                      <a:pt x="5817656" y="2286000"/>
                      <a:pt x="5808869" y="2286000"/>
                    </a:cubicBezTo>
                    <a:lnTo>
                      <a:pt x="33130" y="2286000"/>
                    </a:lnTo>
                    <a:cubicBezTo>
                      <a:pt x="24344" y="2286000"/>
                      <a:pt x="15917" y="2282510"/>
                      <a:pt x="9704" y="2276296"/>
                    </a:cubicBezTo>
                    <a:cubicBezTo>
                      <a:pt x="3491" y="2270083"/>
                      <a:pt x="0" y="2261656"/>
                      <a:pt x="0" y="2252870"/>
                    </a:cubicBezTo>
                    <a:lnTo>
                      <a:pt x="0" y="33130"/>
                    </a:lnTo>
                    <a:cubicBezTo>
                      <a:pt x="0" y="24344"/>
                      <a:pt x="3491" y="15917"/>
                      <a:pt x="9704" y="9704"/>
                    </a:cubicBezTo>
                    <a:cubicBezTo>
                      <a:pt x="15917" y="3491"/>
                      <a:pt x="24344" y="0"/>
                      <a:pt x="33130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9525"/>
                <a:ext cx="5842000" cy="2276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DERIVED CLASS</a:t>
                </a:r>
              </a:p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TeamMember</a:t>
                </a:r>
              </a:p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adds memberID</a:t>
                </a:r>
              </a:p>
            </p:txBody>
          </p:sp>
        </p:grpSp>
        <p:sp>
          <p:nvSpPr>
            <p:cNvPr id="15" name="AutoShape 15"/>
            <p:cNvSpPr/>
            <p:nvPr/>
          </p:nvSpPr>
          <p:spPr>
            <a:xfrm flipV="1">
              <a:off x="2921000" y="2286000"/>
              <a:ext cx="0" cy="2159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524750" y="2381250"/>
            <a:ext cx="8953500" cy="3143250"/>
            <a:chOff x="0" y="0"/>
            <a:chExt cx="11938000" cy="419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38000" cy="4191000"/>
            </a:xfrm>
            <a:custGeom>
              <a:avLst/>
              <a:gdLst/>
              <a:ahLst/>
              <a:cxnLst/>
              <a:rect l="l" t="t" r="r" b="b"/>
              <a:pathLst>
                <a:path w="11938000" h="4191000">
                  <a:moveTo>
                    <a:pt x="0" y="0"/>
                  </a:moveTo>
                  <a:lnTo>
                    <a:pt x="11938000" y="0"/>
                  </a:lnTo>
                  <a:lnTo>
                    <a:pt x="11938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FF6B5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938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96250" y="2828925"/>
            <a:ext cx="7810500" cy="150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class TeamMember : public User {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private: int memberID;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public: void displayProfile();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96250" y="6172200"/>
            <a:ext cx="781050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TeamMember inherits from User. The base class stores common information; the derived class extends it with memberID. This enables code reuse while preserving a clear base-versus-derived relationship.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Polymorphism &amp; Virtual Function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2095500"/>
            <a:ext cx="7905750" cy="4286250"/>
            <a:chOff x="0" y="0"/>
            <a:chExt cx="10541000" cy="571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41000" cy="5715000"/>
            </a:xfrm>
            <a:custGeom>
              <a:avLst/>
              <a:gdLst/>
              <a:ahLst/>
              <a:cxnLst/>
              <a:rect l="l" t="t" r="r" b="b"/>
              <a:pathLst>
                <a:path w="10541000" h="5715000">
                  <a:moveTo>
                    <a:pt x="0" y="0"/>
                  </a:moveTo>
                  <a:lnTo>
                    <a:pt x="10541000" y="0"/>
                  </a:lnTo>
                  <a:lnTo>
                    <a:pt x="10541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F2384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541000" cy="575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2500" y="2447925"/>
            <a:ext cx="7239000" cy="245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virtual void displayRole();</a:t>
            </a:r>
          </a:p>
          <a:p>
            <a:pPr algn="l">
              <a:lnSpc>
                <a:spcPts val="2835"/>
              </a:lnSpc>
            </a:pPr>
            <a:endParaRPr lang="en-US" sz="2100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void displayRole() override;</a:t>
            </a:r>
          </a:p>
          <a:p>
            <a:pPr algn="l">
              <a:lnSpc>
                <a:spcPts val="2835"/>
              </a:lnSpc>
            </a:pPr>
            <a:endParaRPr lang="en-US" sz="2100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User *userPointer;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userPointer = &amp;members[loginResult];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userPointer-&gt;displayRole();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7029450"/>
            <a:ext cx="7239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A base-class pointer refers to a derived TeamMember object. Calling displayRole() resolves at runtime to the overridden function: runtime dispatch through a virtual function.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01250" y="2667000"/>
            <a:ext cx="6953250" cy="4905375"/>
            <a:chOff x="0" y="0"/>
            <a:chExt cx="9271000" cy="6540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810000" cy="1651000"/>
              <a:chOff x="0" y="0"/>
              <a:chExt cx="3810000" cy="1651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810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651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600200"/>
                    </a:lnTo>
                    <a:cubicBezTo>
                      <a:pt x="3810000" y="1628256"/>
                      <a:pt x="3787256" y="1651000"/>
                      <a:pt x="3759200" y="1651000"/>
                    </a:cubicBezTo>
                    <a:lnTo>
                      <a:pt x="50800" y="1651000"/>
                    </a:lnTo>
                    <a:cubicBezTo>
                      <a:pt x="22744" y="1651000"/>
                      <a:pt x="0" y="1628256"/>
                      <a:pt x="0" y="1600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9525"/>
                <a:ext cx="3810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6"/>
                  </a:lnSpc>
                </a:pPr>
                <a:r>
                  <a:rPr lang="en-US" sz="187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User*</a:t>
                </a:r>
              </a:p>
              <a:p>
                <a:pPr algn="ctr">
                  <a:lnSpc>
                    <a:spcPts val="2156"/>
                  </a:lnSpc>
                </a:pPr>
                <a:r>
                  <a:rPr lang="en-US" sz="187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base pointer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461000" y="0"/>
              <a:ext cx="3810000" cy="1651000"/>
              <a:chOff x="0" y="0"/>
              <a:chExt cx="3810000" cy="1651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810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651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1600200"/>
                    </a:lnTo>
                    <a:cubicBezTo>
                      <a:pt x="3810000" y="1628256"/>
                      <a:pt x="3787256" y="1651000"/>
                      <a:pt x="3759200" y="1651000"/>
                    </a:cubicBezTo>
                    <a:lnTo>
                      <a:pt x="50800" y="1651000"/>
                    </a:lnTo>
                    <a:cubicBezTo>
                      <a:pt x="22744" y="1651000"/>
                      <a:pt x="0" y="1628256"/>
                      <a:pt x="0" y="1600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3810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6"/>
                  </a:lnSpc>
                </a:pPr>
                <a:r>
                  <a:rPr lang="en-US" sz="187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TeamMember</a:t>
                </a:r>
              </a:p>
              <a:p>
                <a:pPr algn="ctr">
                  <a:lnSpc>
                    <a:spcPts val="2156"/>
                  </a:lnSpc>
                </a:pPr>
                <a:r>
                  <a:rPr lang="en-US" sz="187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derived object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730500" y="4699000"/>
              <a:ext cx="4572000" cy="1841500"/>
              <a:chOff x="0" y="0"/>
              <a:chExt cx="4572000" cy="18415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572000" cy="18415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841500">
                    <a:moveTo>
                      <a:pt x="42333" y="0"/>
                    </a:moveTo>
                    <a:lnTo>
                      <a:pt x="4529667" y="0"/>
                    </a:lnTo>
                    <a:cubicBezTo>
                      <a:pt x="4540894" y="0"/>
                      <a:pt x="4551662" y="4460"/>
                      <a:pt x="4559601" y="12399"/>
                    </a:cubicBezTo>
                    <a:cubicBezTo>
                      <a:pt x="4567540" y="20338"/>
                      <a:pt x="4572000" y="31106"/>
                      <a:pt x="4572000" y="42333"/>
                    </a:cubicBezTo>
                    <a:lnTo>
                      <a:pt x="4572000" y="1799167"/>
                    </a:lnTo>
                    <a:cubicBezTo>
                      <a:pt x="4572000" y="1810394"/>
                      <a:pt x="4567540" y="1821162"/>
                      <a:pt x="4559601" y="1829101"/>
                    </a:cubicBezTo>
                    <a:cubicBezTo>
                      <a:pt x="4551662" y="1837040"/>
                      <a:pt x="4540894" y="1841500"/>
                      <a:pt x="4529667" y="1841500"/>
                    </a:cubicBezTo>
                    <a:lnTo>
                      <a:pt x="42333" y="1841500"/>
                    </a:lnTo>
                    <a:cubicBezTo>
                      <a:pt x="31106" y="1841500"/>
                      <a:pt x="20338" y="1837040"/>
                      <a:pt x="12399" y="1829101"/>
                    </a:cubicBezTo>
                    <a:cubicBezTo>
                      <a:pt x="4460" y="1821162"/>
                      <a:pt x="0" y="1810394"/>
                      <a:pt x="0" y="1799167"/>
                    </a:cubicBezTo>
                    <a:lnTo>
                      <a:pt x="0" y="42333"/>
                    </a:lnTo>
                    <a:cubicBezTo>
                      <a:pt x="0" y="31106"/>
                      <a:pt x="4460" y="20338"/>
                      <a:pt x="12399" y="12399"/>
                    </a:cubicBezTo>
                    <a:cubicBezTo>
                      <a:pt x="20338" y="4460"/>
                      <a:pt x="31106" y="0"/>
                      <a:pt x="42333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0"/>
                <a:ext cx="4572000" cy="184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2"/>
                  </a:lnSpc>
                </a:pPr>
                <a:r>
                  <a:rPr lang="en-US" sz="195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OVERRIDDEN</a:t>
                </a:r>
              </a:p>
              <a:p>
                <a:pPr algn="ctr">
                  <a:lnSpc>
                    <a:spcPts val="2242"/>
                  </a:lnSpc>
                </a:pPr>
                <a:r>
                  <a:rPr lang="en-US" sz="195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displayRole()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3810000" y="825500"/>
              <a:ext cx="16510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24" name="AutoShape 24"/>
            <p:cNvSpPr/>
            <p:nvPr/>
          </p:nvSpPr>
          <p:spPr>
            <a:xfrm flipH="1">
              <a:off x="5016500" y="1651000"/>
              <a:ext cx="2349500" cy="3048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Constructors &amp; Destructors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857500"/>
            <a:ext cx="16668750" cy="1238250"/>
            <a:chOff x="0" y="0"/>
            <a:chExt cx="22225000" cy="165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683000" cy="1651000"/>
              <a:chOff x="0" y="0"/>
              <a:chExt cx="3683000" cy="165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683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651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598448"/>
                    </a:lnTo>
                    <a:cubicBezTo>
                      <a:pt x="3683000" y="1612386"/>
                      <a:pt x="3677463" y="1625753"/>
                      <a:pt x="3667608" y="1635608"/>
                    </a:cubicBezTo>
                    <a:cubicBezTo>
                      <a:pt x="3657753" y="1645463"/>
                      <a:pt x="3644386" y="1651000"/>
                      <a:pt x="3630448" y="1651000"/>
                    </a:cubicBezTo>
                    <a:lnTo>
                      <a:pt x="52552" y="1651000"/>
                    </a:lnTo>
                    <a:cubicBezTo>
                      <a:pt x="38614" y="1651000"/>
                      <a:pt x="25247" y="1645463"/>
                      <a:pt x="15392" y="1635608"/>
                    </a:cubicBezTo>
                    <a:cubicBezTo>
                      <a:pt x="5537" y="1625753"/>
                      <a:pt x="0" y="1612386"/>
                      <a:pt x="0" y="1598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3683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OBJECT</a:t>
                </a:r>
              </a:p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CREATION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3683000" y="825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4635500" y="0"/>
              <a:ext cx="3683000" cy="1651000"/>
              <a:chOff x="0" y="0"/>
              <a:chExt cx="3683000" cy="165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83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651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598448"/>
                    </a:lnTo>
                    <a:cubicBezTo>
                      <a:pt x="3683000" y="1612386"/>
                      <a:pt x="3677463" y="1625753"/>
                      <a:pt x="3667608" y="1635608"/>
                    </a:cubicBezTo>
                    <a:cubicBezTo>
                      <a:pt x="3657753" y="1645463"/>
                      <a:pt x="3644386" y="1651000"/>
                      <a:pt x="3630448" y="1651000"/>
                    </a:cubicBezTo>
                    <a:lnTo>
                      <a:pt x="52552" y="1651000"/>
                    </a:lnTo>
                    <a:cubicBezTo>
                      <a:pt x="38614" y="1651000"/>
                      <a:pt x="25247" y="1645463"/>
                      <a:pt x="15392" y="1635608"/>
                    </a:cubicBezTo>
                    <a:cubicBezTo>
                      <a:pt x="5537" y="1625753"/>
                      <a:pt x="0" y="1612386"/>
                      <a:pt x="0" y="1598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9525"/>
                <a:ext cx="3683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CONSTRUCTOR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8318500" y="825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271000" y="0"/>
              <a:ext cx="3683000" cy="1651000"/>
              <a:chOff x="0" y="0"/>
              <a:chExt cx="3683000" cy="1651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683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651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598448"/>
                    </a:lnTo>
                    <a:cubicBezTo>
                      <a:pt x="3683000" y="1612386"/>
                      <a:pt x="3677463" y="1625753"/>
                      <a:pt x="3667608" y="1635608"/>
                    </a:cubicBezTo>
                    <a:cubicBezTo>
                      <a:pt x="3657753" y="1645463"/>
                      <a:pt x="3644386" y="1651000"/>
                      <a:pt x="3630448" y="1651000"/>
                    </a:cubicBezTo>
                    <a:lnTo>
                      <a:pt x="52552" y="1651000"/>
                    </a:lnTo>
                    <a:cubicBezTo>
                      <a:pt x="38614" y="1651000"/>
                      <a:pt x="25247" y="1645463"/>
                      <a:pt x="15392" y="1635608"/>
                    </a:cubicBezTo>
                    <a:cubicBezTo>
                      <a:pt x="5537" y="1625753"/>
                      <a:pt x="0" y="1612386"/>
                      <a:pt x="0" y="1598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3683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OBJECT</a:t>
                </a:r>
              </a:p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USAGE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>
              <a:off x="12954000" y="825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3906500" y="0"/>
              <a:ext cx="3683000" cy="1651000"/>
              <a:chOff x="0" y="0"/>
              <a:chExt cx="3683000" cy="1651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683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651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598448"/>
                    </a:lnTo>
                    <a:cubicBezTo>
                      <a:pt x="3683000" y="1612386"/>
                      <a:pt x="3677463" y="1625753"/>
                      <a:pt x="3667608" y="1635608"/>
                    </a:cubicBezTo>
                    <a:cubicBezTo>
                      <a:pt x="3657753" y="1645463"/>
                      <a:pt x="3644386" y="1651000"/>
                      <a:pt x="3630448" y="1651000"/>
                    </a:cubicBezTo>
                    <a:lnTo>
                      <a:pt x="52552" y="1651000"/>
                    </a:lnTo>
                    <a:cubicBezTo>
                      <a:pt x="38614" y="1651000"/>
                      <a:pt x="25247" y="1645463"/>
                      <a:pt x="15392" y="1635608"/>
                    </a:cubicBezTo>
                    <a:cubicBezTo>
                      <a:pt x="5537" y="1625753"/>
                      <a:pt x="0" y="1612386"/>
                      <a:pt x="0" y="1598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9525"/>
                <a:ext cx="3683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OBJECT</a:t>
                </a:r>
              </a:p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DESTRUCTION</a:t>
                </a:r>
              </a:p>
            </p:txBody>
          </p:sp>
        </p:grpSp>
        <p:sp>
          <p:nvSpPr>
            <p:cNvPr id="24" name="AutoShape 24"/>
            <p:cNvSpPr/>
            <p:nvPr/>
          </p:nvSpPr>
          <p:spPr>
            <a:xfrm>
              <a:off x="17589500" y="825500"/>
              <a:ext cx="952500" cy="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8542000" y="0"/>
              <a:ext cx="3683000" cy="1651000"/>
              <a:chOff x="0" y="0"/>
              <a:chExt cx="3683000" cy="165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683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1651000">
                    <a:moveTo>
                      <a:pt x="52552" y="0"/>
                    </a:moveTo>
                    <a:lnTo>
                      <a:pt x="3630448" y="0"/>
                    </a:lnTo>
                    <a:cubicBezTo>
                      <a:pt x="3644386" y="0"/>
                      <a:pt x="3657753" y="5537"/>
                      <a:pt x="3667608" y="15392"/>
                    </a:cubicBezTo>
                    <a:cubicBezTo>
                      <a:pt x="3677463" y="25247"/>
                      <a:pt x="3683000" y="38614"/>
                      <a:pt x="3683000" y="52552"/>
                    </a:cubicBezTo>
                    <a:lnTo>
                      <a:pt x="3683000" y="1598448"/>
                    </a:lnTo>
                    <a:cubicBezTo>
                      <a:pt x="3683000" y="1612386"/>
                      <a:pt x="3677463" y="1625753"/>
                      <a:pt x="3667608" y="1635608"/>
                    </a:cubicBezTo>
                    <a:cubicBezTo>
                      <a:pt x="3657753" y="1645463"/>
                      <a:pt x="3644386" y="1651000"/>
                      <a:pt x="3630448" y="1651000"/>
                    </a:cubicBezTo>
                    <a:lnTo>
                      <a:pt x="52552" y="1651000"/>
                    </a:lnTo>
                    <a:cubicBezTo>
                      <a:pt x="38614" y="1651000"/>
                      <a:pt x="25247" y="1645463"/>
                      <a:pt x="15392" y="1635608"/>
                    </a:cubicBezTo>
                    <a:cubicBezTo>
                      <a:pt x="5537" y="1625753"/>
                      <a:pt x="0" y="1612386"/>
                      <a:pt x="0" y="1598448"/>
                    </a:cubicBezTo>
                    <a:lnTo>
                      <a:pt x="0" y="52552"/>
                    </a:lnTo>
                    <a:cubicBezTo>
                      <a:pt x="0" y="38614"/>
                      <a:pt x="5537" y="25247"/>
                      <a:pt x="15392" y="15392"/>
                    </a:cubicBezTo>
                    <a:cubicBezTo>
                      <a:pt x="25247" y="5537"/>
                      <a:pt x="38614" y="0"/>
                      <a:pt x="52552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9525"/>
                <a:ext cx="3683000" cy="1641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DESTRUCTOR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43000" y="5676900"/>
            <a:ext cx="619125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CONSTRUCTOR OVERLOADING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3000" y="6162675"/>
            <a:ext cx="7239000" cy="176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Ultron()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Ultron(string user)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User()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User(string u, string p, string n)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TeamMember()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TeamMember(string u, string p, string n, int id)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0" y="5676900"/>
            <a:ext cx="476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DESTRUCTORS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0" y="6448425"/>
            <a:ext cx="476250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virtual ~User()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~Ultron()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000" y="8639175"/>
            <a:ext cx="72390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Same constructor name, different parameter lists.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Function Overloading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0100" y="1781175"/>
            <a:ext cx="95250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The compiler distinguishes functions by their argument list.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2819400"/>
            <a:ext cx="533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48500" y="2819400"/>
            <a:ext cx="4000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PARAMETERS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20500" y="2819400"/>
            <a:ext cx="5334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7250" y="3524250"/>
            <a:ext cx="16573500" cy="1047750"/>
            <a:chOff x="0" y="0"/>
            <a:chExt cx="22098000" cy="139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98000" cy="1397000"/>
            </a:xfrm>
            <a:custGeom>
              <a:avLst/>
              <a:gdLst/>
              <a:ahLst/>
              <a:cxnLst/>
              <a:rect l="l" t="t" r="r" b="b"/>
              <a:pathLst>
                <a:path w="22098000" h="1397000">
                  <a:moveTo>
                    <a:pt x="0" y="0"/>
                  </a:moveTo>
                  <a:lnTo>
                    <a:pt x="22098000" y="0"/>
                  </a:lnTo>
                  <a:lnTo>
                    <a:pt x="2209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098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4905375"/>
            <a:ext cx="16573500" cy="1047750"/>
            <a:chOff x="0" y="0"/>
            <a:chExt cx="22098000" cy="139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98000" cy="1397000"/>
            </a:xfrm>
            <a:custGeom>
              <a:avLst/>
              <a:gdLst/>
              <a:ahLst/>
              <a:cxnLst/>
              <a:rect l="l" t="t" r="r" b="b"/>
              <a:pathLst>
                <a:path w="22098000" h="1397000">
                  <a:moveTo>
                    <a:pt x="0" y="0"/>
                  </a:moveTo>
                  <a:lnTo>
                    <a:pt x="22098000" y="0"/>
                  </a:lnTo>
                  <a:lnTo>
                    <a:pt x="2209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98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6286500"/>
            <a:ext cx="16573500" cy="1047750"/>
            <a:chOff x="0" y="0"/>
            <a:chExt cx="22098000" cy="139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98000" cy="1397000"/>
            </a:xfrm>
            <a:custGeom>
              <a:avLst/>
              <a:gdLst/>
              <a:ahLst/>
              <a:cxnLst/>
              <a:rect l="l" t="t" r="r" b="b"/>
              <a:pathLst>
                <a:path w="22098000" h="1397000">
                  <a:moveTo>
                    <a:pt x="0" y="0"/>
                  </a:moveTo>
                  <a:lnTo>
                    <a:pt x="22098000" y="0"/>
                  </a:lnTo>
                  <a:lnTo>
                    <a:pt x="2209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098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7667625"/>
            <a:ext cx="16573500" cy="1047750"/>
            <a:chOff x="0" y="0"/>
            <a:chExt cx="22098000" cy="1397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098000" cy="1397000"/>
            </a:xfrm>
            <a:custGeom>
              <a:avLst/>
              <a:gdLst/>
              <a:ahLst/>
              <a:cxnLst/>
              <a:rect l="l" t="t" r="r" b="b"/>
              <a:pathLst>
                <a:path w="22098000" h="1397000">
                  <a:moveTo>
                    <a:pt x="0" y="0"/>
                  </a:moveTo>
                  <a:lnTo>
                    <a:pt x="22098000" y="0"/>
                  </a:lnTo>
                  <a:lnTo>
                    <a:pt x="2209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098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43000" y="3810000"/>
            <a:ext cx="5334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processQuery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48500" y="3810000"/>
            <a:ext cx="4000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string query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20500" y="3819525"/>
            <a:ext cx="5334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process a standard query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000" y="5191125"/>
            <a:ext cx="5334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processQuery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48500" y="5191125"/>
            <a:ext cx="4000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string query, int queryNumber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0500" y="5200650"/>
            <a:ext cx="5334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process numbered query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" y="6572250"/>
            <a:ext cx="5334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searchMember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48500" y="6572250"/>
            <a:ext cx="4000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..., string username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20500" y="6581775"/>
            <a:ext cx="5334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search by username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000" y="7953375"/>
            <a:ext cx="5334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searchMember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48500" y="7953375"/>
            <a:ext cx="40005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..., int index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20500" y="7962900"/>
            <a:ext cx="5334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search by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Static Members &amp; Friend Function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809750"/>
            <a:ext cx="7810500" cy="7239000"/>
            <a:chOff x="0" y="0"/>
            <a:chExt cx="10414000" cy="965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14000" cy="9652000"/>
            </a:xfrm>
            <a:custGeom>
              <a:avLst/>
              <a:gdLst/>
              <a:ahLst/>
              <a:cxnLst/>
              <a:rect l="l" t="t" r="r" b="b"/>
              <a:pathLst>
                <a:path w="10414000" h="9652000">
                  <a:moveTo>
                    <a:pt x="0" y="0"/>
                  </a:moveTo>
                  <a:lnTo>
                    <a:pt x="10414000" y="0"/>
                  </a:lnTo>
                  <a:lnTo>
                    <a:pt x="1041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FF6B5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414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10750" y="1809750"/>
            <a:ext cx="7810500" cy="7239000"/>
            <a:chOff x="0" y="0"/>
            <a:chExt cx="10414000" cy="965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14000" cy="9652000"/>
            </a:xfrm>
            <a:custGeom>
              <a:avLst/>
              <a:gdLst/>
              <a:ahLst/>
              <a:cxnLst/>
              <a:rect l="l" t="t" r="r" b="b"/>
              <a:pathLst>
                <a:path w="10414000" h="9652000">
                  <a:moveTo>
                    <a:pt x="0" y="0"/>
                  </a:moveTo>
                  <a:lnTo>
                    <a:pt x="10414000" y="0"/>
                  </a:lnTo>
                  <a:lnTo>
                    <a:pt x="1041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F5B85C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414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7750" y="21526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STATIC MEMBER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750" y="2819400"/>
            <a:ext cx="6667500" cy="1854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static int totalSessions;</a:t>
            </a:r>
          </a:p>
          <a:p>
            <a:pPr algn="l">
              <a:lnSpc>
                <a:spcPts val="2936"/>
              </a:lnSpc>
            </a:pPr>
            <a:endParaRPr lang="en-US" sz="2175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int Ultron::totalSessions = 0;</a:t>
            </a:r>
          </a:p>
          <a:p>
            <a:pPr algn="l">
              <a:lnSpc>
                <a:spcPts val="2936"/>
              </a:lnSpc>
            </a:pPr>
            <a:endParaRPr lang="en-US" sz="2175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static void showTotalSessions();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750" y="6172200"/>
            <a:ext cx="666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Shared by all Ultron objects. The static member function reports the common session count.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0" y="21526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FRIEND FUNCTION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0" y="2828925"/>
            <a:ext cx="6667500" cy="239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friend void showUltronStatus(Ultron u);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// accesses private data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u.currentUser;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u.credits;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6F8F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showUltronStatus(bot);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0" y="7219950"/>
            <a:ext cx="666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Receives an object as a function argument and is granted controlled access to private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Authentication &amp; User Management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238375"/>
            <a:ext cx="6667500" cy="857250"/>
            <a:chOff x="0" y="0"/>
            <a:chExt cx="8890000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90000" cy="1143000"/>
            </a:xfrm>
            <a:custGeom>
              <a:avLst/>
              <a:gdLst/>
              <a:ahLst/>
              <a:cxnLst/>
              <a:rect l="l" t="t" r="r" b="b"/>
              <a:pathLst>
                <a:path w="8890000" h="1143000">
                  <a:moveTo>
                    <a:pt x="0" y="0"/>
                  </a:moveTo>
                  <a:lnTo>
                    <a:pt x="8890000" y="0"/>
                  </a:lnTo>
                  <a:lnTo>
                    <a:pt x="88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250" y="3429000"/>
            <a:ext cx="6667500" cy="857250"/>
            <a:chOff x="0" y="0"/>
            <a:chExt cx="8890000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0000" cy="1143000"/>
            </a:xfrm>
            <a:custGeom>
              <a:avLst/>
              <a:gdLst/>
              <a:ahLst/>
              <a:cxnLst/>
              <a:rect l="l" t="t" r="r" b="b"/>
              <a:pathLst>
                <a:path w="8890000" h="1143000">
                  <a:moveTo>
                    <a:pt x="0" y="0"/>
                  </a:moveTo>
                  <a:lnTo>
                    <a:pt x="8890000" y="0"/>
                  </a:lnTo>
                  <a:lnTo>
                    <a:pt x="88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8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4619625"/>
            <a:ext cx="6667500" cy="857250"/>
            <a:chOff x="0" y="0"/>
            <a:chExt cx="8890000" cy="114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90000" cy="1143000"/>
            </a:xfrm>
            <a:custGeom>
              <a:avLst/>
              <a:gdLst/>
              <a:ahLst/>
              <a:cxnLst/>
              <a:rect l="l" t="t" r="r" b="b"/>
              <a:pathLst>
                <a:path w="8890000" h="1143000">
                  <a:moveTo>
                    <a:pt x="0" y="0"/>
                  </a:moveTo>
                  <a:lnTo>
                    <a:pt x="8890000" y="0"/>
                  </a:lnTo>
                  <a:lnTo>
                    <a:pt x="88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8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250" y="5810250"/>
            <a:ext cx="6667500" cy="857250"/>
            <a:chOff x="0" y="0"/>
            <a:chExt cx="8890000" cy="1143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90000" cy="1143000"/>
            </a:xfrm>
            <a:custGeom>
              <a:avLst/>
              <a:gdLst/>
              <a:ahLst/>
              <a:cxnLst/>
              <a:rect l="l" t="t" r="r" b="b"/>
              <a:pathLst>
                <a:path w="8890000" h="1143000">
                  <a:moveTo>
                    <a:pt x="0" y="0"/>
                  </a:moveTo>
                  <a:lnTo>
                    <a:pt x="8890000" y="0"/>
                  </a:lnTo>
                  <a:lnTo>
                    <a:pt x="88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8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7000875"/>
            <a:ext cx="6667500" cy="857250"/>
            <a:chOff x="0" y="0"/>
            <a:chExt cx="8890000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90000" cy="1143000"/>
            </a:xfrm>
            <a:custGeom>
              <a:avLst/>
              <a:gdLst/>
              <a:ahLst/>
              <a:cxnLst/>
              <a:rect l="l" t="t" r="r" b="b"/>
              <a:pathLst>
                <a:path w="8890000" h="1143000">
                  <a:moveTo>
                    <a:pt x="0" y="0"/>
                  </a:moveTo>
                  <a:lnTo>
                    <a:pt x="8890000" y="0"/>
                  </a:lnTo>
                  <a:lnTo>
                    <a:pt x="8890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89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90625" y="2457450"/>
            <a:ext cx="5905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6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 Om Amol Dube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0625" y="3648075"/>
            <a:ext cx="5905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6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 Manas Chemate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0625" y="4838700"/>
            <a:ext cx="5905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6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 Yash Wairkar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0625" y="6029325"/>
            <a:ext cx="5905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6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 Amogh Shirvadkar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0625" y="7219950"/>
            <a:ext cx="5905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6F8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 Jaydevsingh Bagal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34500" y="2476500"/>
            <a:ext cx="5905500" cy="5048250"/>
            <a:chOff x="0" y="0"/>
            <a:chExt cx="7874000" cy="6731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7874000" cy="1397000"/>
              <a:chOff x="0" y="0"/>
              <a:chExt cx="7874000" cy="139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874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1397000">
                    <a:moveTo>
                      <a:pt x="24581" y="0"/>
                    </a:moveTo>
                    <a:lnTo>
                      <a:pt x="7849419" y="0"/>
                    </a:lnTo>
                    <a:cubicBezTo>
                      <a:pt x="7855938" y="0"/>
                      <a:pt x="7862191" y="2590"/>
                      <a:pt x="7866800" y="7200"/>
                    </a:cubicBezTo>
                    <a:cubicBezTo>
                      <a:pt x="7871410" y="11809"/>
                      <a:pt x="7874000" y="18061"/>
                      <a:pt x="7874000" y="24581"/>
                    </a:cubicBezTo>
                    <a:lnTo>
                      <a:pt x="7874000" y="1372419"/>
                    </a:lnTo>
                    <a:cubicBezTo>
                      <a:pt x="7874000" y="1378939"/>
                      <a:pt x="7871410" y="1385191"/>
                      <a:pt x="7866800" y="1389801"/>
                    </a:cubicBezTo>
                    <a:cubicBezTo>
                      <a:pt x="7862191" y="1394410"/>
                      <a:pt x="7855938" y="1397000"/>
                      <a:pt x="7849419" y="1397000"/>
                    </a:cubicBezTo>
                    <a:lnTo>
                      <a:pt x="24581" y="1397000"/>
                    </a:lnTo>
                    <a:cubicBezTo>
                      <a:pt x="18061" y="1397000"/>
                      <a:pt x="11809" y="1394410"/>
                      <a:pt x="7200" y="1389801"/>
                    </a:cubicBezTo>
                    <a:cubicBezTo>
                      <a:pt x="2590" y="1385191"/>
                      <a:pt x="0" y="1378939"/>
                      <a:pt x="0" y="1372419"/>
                    </a:cubicBezTo>
                    <a:lnTo>
                      <a:pt x="0" y="24581"/>
                    </a:lnTo>
                    <a:cubicBezTo>
                      <a:pt x="0" y="18061"/>
                      <a:pt x="2590" y="11809"/>
                      <a:pt x="7200" y="7200"/>
                    </a:cubicBezTo>
                    <a:cubicBezTo>
                      <a:pt x="11809" y="2590"/>
                      <a:pt x="18061" y="0"/>
                      <a:pt x="2458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9525"/>
                <a:ext cx="7874000" cy="1387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TeamMember members[5]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2667000"/>
              <a:ext cx="7874000" cy="1397000"/>
              <a:chOff x="0" y="0"/>
              <a:chExt cx="7874000" cy="1397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874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1397000">
                    <a:moveTo>
                      <a:pt x="24581" y="0"/>
                    </a:moveTo>
                    <a:lnTo>
                      <a:pt x="7849419" y="0"/>
                    </a:lnTo>
                    <a:cubicBezTo>
                      <a:pt x="7855938" y="0"/>
                      <a:pt x="7862191" y="2590"/>
                      <a:pt x="7866800" y="7200"/>
                    </a:cubicBezTo>
                    <a:cubicBezTo>
                      <a:pt x="7871410" y="11809"/>
                      <a:pt x="7874000" y="18061"/>
                      <a:pt x="7874000" y="24581"/>
                    </a:cubicBezTo>
                    <a:lnTo>
                      <a:pt x="7874000" y="1372419"/>
                    </a:lnTo>
                    <a:cubicBezTo>
                      <a:pt x="7874000" y="1378939"/>
                      <a:pt x="7871410" y="1385191"/>
                      <a:pt x="7866800" y="1389801"/>
                    </a:cubicBezTo>
                    <a:cubicBezTo>
                      <a:pt x="7862191" y="1394410"/>
                      <a:pt x="7855938" y="1397000"/>
                      <a:pt x="7849419" y="1397000"/>
                    </a:cubicBezTo>
                    <a:lnTo>
                      <a:pt x="24581" y="1397000"/>
                    </a:lnTo>
                    <a:cubicBezTo>
                      <a:pt x="18061" y="1397000"/>
                      <a:pt x="11809" y="1394410"/>
                      <a:pt x="7200" y="1389801"/>
                    </a:cubicBezTo>
                    <a:cubicBezTo>
                      <a:pt x="2590" y="1385191"/>
                      <a:pt x="0" y="1378939"/>
                      <a:pt x="0" y="1372419"/>
                    </a:cubicBezTo>
                    <a:lnTo>
                      <a:pt x="0" y="24581"/>
                    </a:lnTo>
                    <a:cubicBezTo>
                      <a:pt x="0" y="18061"/>
                      <a:pt x="2590" y="11809"/>
                      <a:pt x="7200" y="7200"/>
                    </a:cubicBezTo>
                    <a:cubicBezTo>
                      <a:pt x="11809" y="2590"/>
                      <a:pt x="18061" y="0"/>
                      <a:pt x="24581" y="0"/>
                    </a:cubicBezTo>
                    <a:close/>
                  </a:path>
                </a:pathLst>
              </a:custGeom>
              <a:solidFill>
                <a:srgbClr val="F23846"/>
              </a:solidFill>
              <a:ln w="19050" cap="sq">
                <a:solidFill>
                  <a:srgbClr val="FF6B5F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9525"/>
                <a:ext cx="7874000" cy="1387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6"/>
                  </a:lnSpc>
                </a:pPr>
                <a:r>
                  <a:rPr lang="en-US" sz="1875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MATCH USERNAME + PASSWORD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5334000"/>
              <a:ext cx="7874000" cy="1397000"/>
              <a:chOff x="0" y="0"/>
              <a:chExt cx="7874000" cy="1397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874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1397000">
                    <a:moveTo>
                      <a:pt x="24581" y="0"/>
                    </a:moveTo>
                    <a:lnTo>
                      <a:pt x="7849419" y="0"/>
                    </a:lnTo>
                    <a:cubicBezTo>
                      <a:pt x="7855938" y="0"/>
                      <a:pt x="7862191" y="2590"/>
                      <a:pt x="7866800" y="7200"/>
                    </a:cubicBezTo>
                    <a:cubicBezTo>
                      <a:pt x="7871410" y="11809"/>
                      <a:pt x="7874000" y="18061"/>
                      <a:pt x="7874000" y="24581"/>
                    </a:cubicBezTo>
                    <a:lnTo>
                      <a:pt x="7874000" y="1372419"/>
                    </a:lnTo>
                    <a:cubicBezTo>
                      <a:pt x="7874000" y="1378939"/>
                      <a:pt x="7871410" y="1385191"/>
                      <a:pt x="7866800" y="1389801"/>
                    </a:cubicBezTo>
                    <a:cubicBezTo>
                      <a:pt x="7862191" y="1394410"/>
                      <a:pt x="7855938" y="1397000"/>
                      <a:pt x="7849419" y="1397000"/>
                    </a:cubicBezTo>
                    <a:lnTo>
                      <a:pt x="24581" y="1397000"/>
                    </a:lnTo>
                    <a:cubicBezTo>
                      <a:pt x="18061" y="1397000"/>
                      <a:pt x="11809" y="1394410"/>
                      <a:pt x="7200" y="1389801"/>
                    </a:cubicBezTo>
                    <a:cubicBezTo>
                      <a:pt x="2590" y="1385191"/>
                      <a:pt x="0" y="1378939"/>
                      <a:pt x="0" y="1372419"/>
                    </a:cubicBezTo>
                    <a:lnTo>
                      <a:pt x="0" y="24581"/>
                    </a:lnTo>
                    <a:cubicBezTo>
                      <a:pt x="0" y="18061"/>
                      <a:pt x="2590" y="11809"/>
                      <a:pt x="7200" y="7200"/>
                    </a:cubicBezTo>
                    <a:cubicBezTo>
                      <a:pt x="11809" y="2590"/>
                      <a:pt x="18061" y="0"/>
                      <a:pt x="24581" y="0"/>
                    </a:cubicBezTo>
                    <a:close/>
                  </a:path>
                </a:pathLst>
              </a:custGeom>
              <a:solidFill>
                <a:srgbClr val="20293A"/>
              </a:solidFill>
              <a:ln w="19050" cap="sq">
                <a:solidFill>
                  <a:srgbClr val="344158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9525"/>
                <a:ext cx="7874000" cy="13874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1">
                    <a:solidFill>
                      <a:srgbClr val="F6F8FC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PROFILE + ROLE → SESSION START</a:t>
                </a:r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3937000" y="1397000"/>
              <a:ext cx="0" cy="1270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3937000" y="4064000"/>
              <a:ext cx="0" cy="1270000"/>
            </a:xfrm>
            <a:prstGeom prst="line">
              <a:avLst/>
            </a:prstGeom>
            <a:ln w="38100" cap="rnd">
              <a:solidFill>
                <a:srgbClr val="FF6B5F"/>
              </a:soli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047750" y="8534400"/>
            <a:ext cx="1619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 b="1">
                <a:solidFill>
                  <a:srgbClr val="F5B8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Array of Objects  •  Class  •  Inheritance  •  Encapsulation  •  Strings  •  Functions  •  Loops  •  Conditions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 Engine &amp; Command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809750"/>
            <a:ext cx="8096250" cy="7239000"/>
            <a:chOff x="0" y="0"/>
            <a:chExt cx="10795000" cy="965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5000" cy="9652000"/>
            </a:xfrm>
            <a:custGeom>
              <a:avLst/>
              <a:gdLst/>
              <a:ahLst/>
              <a:cxnLst/>
              <a:rect l="l" t="t" r="r" b="b"/>
              <a:pathLst>
                <a:path w="10795000" h="9652000">
                  <a:moveTo>
                    <a:pt x="0" y="0"/>
                  </a:moveTo>
                  <a:lnTo>
                    <a:pt x="10795000" y="0"/>
                  </a:lnTo>
                  <a:lnTo>
                    <a:pt x="10795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7950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20250" y="2190750"/>
            <a:ext cx="7239000" cy="6858000"/>
            <a:chOff x="0" y="0"/>
            <a:chExt cx="9652000" cy="914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52000" cy="9144000"/>
            </a:xfrm>
            <a:custGeom>
              <a:avLst/>
              <a:gdLst/>
              <a:ahLst/>
              <a:cxnLst/>
              <a:rect l="l" t="t" r="r" b="b"/>
              <a:pathLst>
                <a:path w="9652000" h="9144000">
                  <a:moveTo>
                    <a:pt x="0" y="0"/>
                  </a:moveTo>
                  <a:lnTo>
                    <a:pt x="9652000" y="0"/>
                  </a:lnTo>
                  <a:lnTo>
                    <a:pt x="9652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20293A"/>
            </a:solidFill>
            <a:ln w="19050" cap="sq">
              <a:solidFill>
                <a:srgbClr val="F23846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652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52500" y="2152650"/>
            <a:ext cx="7048500" cy="36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&gt; getline() reads console input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500" y="3276600"/>
            <a:ext cx="7048500" cy="112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SPECIAL COMMANDS</a:t>
            </a:r>
          </a:p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help  •  credits  •  profile  •  sessions  •  exit</a:t>
            </a:r>
          </a:p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(no credit cost)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00" y="5753100"/>
            <a:ext cx="7239000" cy="104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NORMAL QUERIES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hi • hello • who are you • what is oop • what is c++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how are you • what can you do • do you need internet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3750" y="3295650"/>
            <a:ext cx="4572000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if (credits &gt; 0) {</a:t>
            </a:r>
          </a:p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    credits--;</a:t>
            </a:r>
          </a:p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F6F8FC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68000" y="6248400"/>
            <a:ext cx="5143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INITIAL CREDITS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68000" y="6581775"/>
            <a:ext cx="514350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19"/>
              </a:lnSpc>
            </a:pPr>
            <a:r>
              <a:rPr lang="en-US" sz="9300" b="1">
                <a:solidFill>
                  <a:srgbClr val="FF6B5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96500" y="8534400"/>
            <a:ext cx="6286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Credit limit terminates the session.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Important Code Implementation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2095500"/>
            <a:ext cx="7905750" cy="3143250"/>
            <a:chOff x="0" y="0"/>
            <a:chExt cx="10541000" cy="419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41000" cy="4191000"/>
            </a:xfrm>
            <a:custGeom>
              <a:avLst/>
              <a:gdLst/>
              <a:ahLst/>
              <a:cxnLst/>
              <a:rect l="l" t="t" r="r" b="b"/>
              <a:pathLst>
                <a:path w="10541000" h="4191000">
                  <a:moveTo>
                    <a:pt x="0" y="0"/>
                  </a:moveTo>
                  <a:lnTo>
                    <a:pt x="10541000" y="0"/>
                  </a:lnTo>
                  <a:lnTo>
                    <a:pt x="1054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F23846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54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29750" y="2095500"/>
            <a:ext cx="7905750" cy="3143250"/>
            <a:chOff x="0" y="0"/>
            <a:chExt cx="10541000" cy="419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41000" cy="4191000"/>
            </a:xfrm>
            <a:custGeom>
              <a:avLst/>
              <a:gdLst/>
              <a:ahLst/>
              <a:cxnLst/>
              <a:rect l="l" t="t" r="r" b="b"/>
              <a:pathLst>
                <a:path w="10541000" h="4191000">
                  <a:moveTo>
                    <a:pt x="0" y="0"/>
                  </a:moveTo>
                  <a:lnTo>
                    <a:pt x="10541000" y="0"/>
                  </a:lnTo>
                  <a:lnTo>
                    <a:pt x="1054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54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5762625"/>
            <a:ext cx="7905750" cy="3143250"/>
            <a:chOff x="0" y="0"/>
            <a:chExt cx="10541000" cy="4191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41000" cy="4191000"/>
            </a:xfrm>
            <a:custGeom>
              <a:avLst/>
              <a:gdLst/>
              <a:ahLst/>
              <a:cxnLst/>
              <a:rect l="l" t="t" r="r" b="b"/>
              <a:pathLst>
                <a:path w="10541000" h="4191000">
                  <a:moveTo>
                    <a:pt x="0" y="0"/>
                  </a:moveTo>
                  <a:lnTo>
                    <a:pt x="10541000" y="0"/>
                  </a:lnTo>
                  <a:lnTo>
                    <a:pt x="1054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54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29750" y="5762625"/>
            <a:ext cx="7905750" cy="3143250"/>
            <a:chOff x="0" y="0"/>
            <a:chExt cx="10541000" cy="419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41000" cy="4191000"/>
            </a:xfrm>
            <a:custGeom>
              <a:avLst/>
              <a:gdLst/>
              <a:ahLst/>
              <a:cxnLst/>
              <a:rect l="l" t="t" r="r" b="b"/>
              <a:pathLst>
                <a:path w="10541000" h="4191000">
                  <a:moveTo>
                    <a:pt x="0" y="0"/>
                  </a:moveTo>
                  <a:lnTo>
                    <a:pt x="10541000" y="0"/>
                  </a:lnTo>
                  <a:lnTo>
                    <a:pt x="10541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51D2B"/>
            </a:solidFill>
            <a:ln w="19050" cap="sq">
              <a:solidFill>
                <a:srgbClr val="344158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541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62050" y="2362200"/>
            <a:ext cx="7239000" cy="2375535"/>
            <a:chOff x="0" y="0"/>
            <a:chExt cx="9652000" cy="316738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965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INHERITANCE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95325"/>
              <a:ext cx="965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class TeamMember : public User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781300"/>
              <a:ext cx="9652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AB4C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Derived class reuses User behavior.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34550" y="2362200"/>
            <a:ext cx="7239000" cy="2375535"/>
            <a:chOff x="0" y="0"/>
            <a:chExt cx="9652000" cy="3167380"/>
          </a:xfrm>
        </p:grpSpPr>
        <p:sp>
          <p:nvSpPr>
            <p:cNvPr id="25" name="TextBox 25"/>
            <p:cNvSpPr txBox="1"/>
            <p:nvPr/>
          </p:nvSpPr>
          <p:spPr>
            <a:xfrm>
              <a:off x="0" y="-38100"/>
              <a:ext cx="965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POLYMORPHISM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695325"/>
              <a:ext cx="9652000" cy="116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User *userPointer;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userPointer = &amp;members[loginResult];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userPointer-&gt;displayRole();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2781300"/>
              <a:ext cx="9652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AB4C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Base pointer dispatches the override.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2050" y="6029325"/>
            <a:ext cx="7239000" cy="2375535"/>
            <a:chOff x="0" y="0"/>
            <a:chExt cx="9652000" cy="31673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38100"/>
              <a:ext cx="965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FUNCTION OVERLOADING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695325"/>
              <a:ext cx="9652000" cy="772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void processQuery(string query);</a:t>
              </a:r>
            </a:p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void processQuery(string query, int queryNumber);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2781300"/>
              <a:ext cx="9652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AB4C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Argument lists select the function.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34550" y="6029325"/>
            <a:ext cx="7239000" cy="2375535"/>
            <a:chOff x="0" y="0"/>
            <a:chExt cx="9652000" cy="316738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9652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65">
                  <a:solidFill>
                    <a:srgbClr val="FF6B5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STATIC MEMBER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695325"/>
              <a:ext cx="965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6F8F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static int totalSessions;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781300"/>
              <a:ext cx="9652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AB4C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 shared count across objects.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857500" y="9391650"/>
            <a:ext cx="12573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5B85C"/>
                </a:solidFill>
                <a:latin typeface="Montserrat"/>
                <a:ea typeface="Montserrat"/>
                <a:cs typeface="Montserrat"/>
                <a:sym typeface="Montserrat"/>
              </a:rPr>
              <a:t>Complete source code is part of documentation/submission.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Features &amp; Concepts Mapping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9625" y="1809750"/>
            <a:ext cx="8096250" cy="838200"/>
            <a:chOff x="0" y="0"/>
            <a:chExt cx="10795000" cy="111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9625" y="2914650"/>
            <a:ext cx="8096250" cy="838200"/>
            <a:chOff x="0" y="0"/>
            <a:chExt cx="10795000" cy="1117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9625" y="4019550"/>
            <a:ext cx="8096250" cy="838200"/>
            <a:chOff x="0" y="0"/>
            <a:chExt cx="10795000" cy="1117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9625" y="5124450"/>
            <a:ext cx="8096250" cy="838200"/>
            <a:chOff x="0" y="0"/>
            <a:chExt cx="10795000" cy="111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9625" y="6229350"/>
            <a:ext cx="8096250" cy="838200"/>
            <a:chOff x="0" y="0"/>
            <a:chExt cx="10795000" cy="111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9625" y="7334250"/>
            <a:ext cx="8096250" cy="838200"/>
            <a:chOff x="0" y="0"/>
            <a:chExt cx="10795000" cy="1117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9625" y="8439150"/>
            <a:ext cx="8096250" cy="838200"/>
            <a:chOff x="0" y="0"/>
            <a:chExt cx="10795000" cy="1117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29750" y="1809750"/>
            <a:ext cx="8096250" cy="838200"/>
            <a:chOff x="0" y="0"/>
            <a:chExt cx="10795000" cy="1117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29750" y="2914650"/>
            <a:ext cx="8096250" cy="838200"/>
            <a:chOff x="0" y="0"/>
            <a:chExt cx="10795000" cy="1117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29750" y="4019550"/>
            <a:ext cx="8096250" cy="838200"/>
            <a:chOff x="0" y="0"/>
            <a:chExt cx="10795000" cy="1117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29750" y="5124450"/>
            <a:ext cx="8096250" cy="838200"/>
            <a:chOff x="0" y="0"/>
            <a:chExt cx="10795000" cy="1117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29750" y="6229350"/>
            <a:ext cx="8096250" cy="838200"/>
            <a:chOff x="0" y="0"/>
            <a:chExt cx="10795000" cy="1117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20293A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29750" y="7334250"/>
            <a:ext cx="8096250" cy="838200"/>
            <a:chOff x="0" y="0"/>
            <a:chExt cx="10795000" cy="1117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795000" cy="1117600"/>
            </a:xfrm>
            <a:custGeom>
              <a:avLst/>
              <a:gdLst/>
              <a:ahLst/>
              <a:cxnLst/>
              <a:rect l="l" t="t" r="r" b="b"/>
              <a:pathLst>
                <a:path w="10795000" h="1117600">
                  <a:moveTo>
                    <a:pt x="0" y="0"/>
                  </a:moveTo>
                  <a:lnTo>
                    <a:pt x="10795000" y="0"/>
                  </a:lnTo>
                  <a:lnTo>
                    <a:pt x="10795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151D2B"/>
            </a:solid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795000" cy="1155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19175" y="19335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57625" y="1971675"/>
            <a:ext cx="48101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Array of Objects, Strings, Loops, Conditions, Functions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9175" y="30384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Profile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857625" y="3076575"/>
            <a:ext cx="48101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Classes, Objects, Encapsulation, Member Functions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19175" y="41433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 Engine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57625" y="41814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Functions, Strings, Loops, Conditions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9175" y="52482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Predefined Responses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857625" y="52863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if-else, Strings, Functions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19175" y="63531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Help System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857625" y="63912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Member Function, Conditions, Console I/O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19175" y="74580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Credit System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857625" y="7496175"/>
            <a:ext cx="48101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Encapsulation, Conditions, Increment/Decrement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19175" y="85629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Session Counter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57625" y="86010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Static Data Member, Static Member Function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639300" y="19335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Roles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477750" y="19716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Inheritance, Function Overriding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639300" y="30384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Runtime Role Display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477750" y="30765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Virtual Function, Runtime Polymorphism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639300" y="41433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Query Number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477750" y="4181475"/>
            <a:ext cx="48101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Variables, Increment Operator, Function Arguments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39300" y="52482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Member Search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477750" y="52863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Function Overloading, Loops, Arrays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39300" y="63531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Status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477750" y="63912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Friend Function, Object as Function Argument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639300" y="7458075"/>
            <a:ext cx="271462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Shutdown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477750" y="7496175"/>
            <a:ext cx="481012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Destructor, Object Lifecycle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0100" y="38100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ULTRON / OOP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0100" y="847725"/>
            <a:ext cx="142875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87750" y="476250"/>
            <a:ext cx="1143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6B5F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1666875"/>
            <a:ext cx="38100" cy="7239000"/>
            <a:chOff x="0" y="0"/>
            <a:chExt cx="50800" cy="965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9652000"/>
            </a:xfrm>
            <a:custGeom>
              <a:avLst/>
              <a:gdLst/>
              <a:ahLst/>
              <a:cxnLst/>
              <a:rect l="l" t="t" r="r" b="b"/>
              <a:pathLst>
                <a:path w="50800" h="9652000">
                  <a:moveTo>
                    <a:pt x="0" y="0"/>
                  </a:moveTo>
                  <a:lnTo>
                    <a:pt x="50800" y="0"/>
                  </a:lnTo>
                  <a:lnTo>
                    <a:pt x="508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F23846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800" cy="969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57250" y="1771650"/>
            <a:ext cx="6858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2314575"/>
            <a:ext cx="704850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ULTRON combines practical C++ OOP with offline interaction, authentication, profile management, command processing, credit/session management, polymorphism, overloading, static members, friend functions, and constructors/destructors.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0250" y="1771650"/>
            <a:ext cx="7239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65">
                <a:solidFill>
                  <a:srgbClr val="FF6B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0250" y="2305050"/>
            <a:ext cx="7239000" cy="304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01  Larger response library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02  Case-insensitive input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03  Better natural-language matching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04  File-based user storage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05  Conversation history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06  GUI interface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07  Voice input/output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08  Database integration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09  Internet/API integration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6F8FC"/>
                </a:solidFill>
                <a:latin typeface="Montserrat"/>
                <a:ea typeface="Montserrat"/>
                <a:cs typeface="Montserrat"/>
                <a:sym typeface="Montserrat"/>
              </a:rPr>
              <a:t>10  Real AI/ML integration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7250" y="6153150"/>
            <a:ext cx="704850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F5B8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None of these are currently implemented. ULTRON remains an offline rule-based chatbot simulation — not real AI.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7250" y="7543800"/>
            <a:ext cx="8096250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F6F8F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875" y="8524875"/>
            <a:ext cx="476250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6B5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750" y="8334375"/>
            <a:ext cx="7620000" cy="62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lang="en-US" sz="1725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Om Amol Dube  •  Manas Chemate  •  Yash Wairkar</a:t>
            </a:r>
          </a:p>
          <a:p>
            <a:pPr algn="r">
              <a:lnSpc>
                <a:spcPts val="2587"/>
              </a:lnSpc>
            </a:pPr>
            <a:r>
              <a:rPr lang="en-US" sz="1725">
                <a:solidFill>
                  <a:srgbClr val="AAB4C5"/>
                </a:solidFill>
                <a:latin typeface="Montserrat"/>
                <a:ea typeface="Montserrat"/>
                <a:cs typeface="Montserrat"/>
                <a:sym typeface="Montserrat"/>
              </a:rPr>
              <a:t>Amogh Shirvadkar  •  Jaydevsingh Bagal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ULTRON OOP Project</dc:title>
  <cp:lastModifiedBy>Om Dube</cp:lastModifiedBy>
  <cp:revision>2</cp:revision>
  <dcterms:created xsi:type="dcterms:W3CDTF">2006-08-16T00:00:00Z</dcterms:created>
  <dcterms:modified xsi:type="dcterms:W3CDTF">2026-10-06T00:58:05Z</dcterms:modified>
  <dc:identifier>DAHW8E3t4jI</dc:identifier>
</cp:coreProperties>
</file>